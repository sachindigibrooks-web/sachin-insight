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02152" y="658368"/>
            <a:ext cx="2871216" cy="402336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3970">
            <a:solidFill>
              <a:srgbClr val="F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02152" y="768096"/>
            <a:ext cx="28712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68" b="1" spc="250">
                <a:solidFill>
                  <a:srgbClr val="C8102E"/>
                </a:solidFill>
                <a:latin typeface="Inter"/>
              </a:rPr>
              <a:t>•  MEN'S HEALTH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72" b="1" spc="-150">
                <a:solidFill>
                  <a:srgbClr val="0F2341"/>
                </a:solidFill>
                <a:latin typeface="Inter"/>
              </a:rPr>
              <a:t>The </a:t>
            </a:r>
            <a:r>
              <a:rPr sz="5472" b="1" spc="-150">
                <a:solidFill>
                  <a:srgbClr val="C8102E"/>
                </a:solidFill>
                <a:latin typeface="Inter"/>
              </a:rPr>
              <a:t>Anxiety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88" b="0">
                <a:solidFill>
                  <a:srgbClr val="4A5568"/>
                </a:solidFill>
                <a:latin typeface="Inter"/>
              </a:rPr>
              <a:t>How worry can make you go soft during sex</a:t>
            </a:r>
          </a:p>
        </p:txBody>
      </p:sp>
      <p:pic>
        <p:nvPicPr>
          <p:cNvPr id="7" name="Picture 6" descr="ar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75520" cy="12344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21024" y="3611880"/>
            <a:ext cx="2633472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3886200"/>
            <a:ext cx="24140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43" b="1" spc="-50">
                <a:solidFill>
                  <a:srgbClr val="0F2341"/>
                </a:solidFill>
                <a:latin typeface="Inter"/>
              </a:rPr>
              <a:t>Worry about performance</a:t>
            </a:r>
          </a:p>
          <a:p>
            <a:pPr algn="ctr">
              <a:spcBef>
                <a:spcPts val="576"/>
              </a:spcBef>
            </a:pPr>
            <a:r>
              <a:rPr sz="1368" b="0">
                <a:solidFill>
                  <a:srgbClr val="4A5568"/>
                </a:solidFill>
                <a:latin typeface="Inter"/>
              </a:rPr>
              <a:t>"What if it happens again?"</a:t>
            </a:r>
          </a:p>
        </p:txBody>
      </p:sp>
      <p:sp>
        <p:nvSpPr>
          <p:cNvPr id="10" name="Oval 9"/>
          <p:cNvSpPr/>
          <p:nvPr/>
        </p:nvSpPr>
        <p:spPr>
          <a:xfrm>
            <a:off x="4736592" y="3401568"/>
            <a:ext cx="402336" cy="402336"/>
          </a:xfrm>
          <a:prstGeom prst="ellipse">
            <a:avLst/>
          </a:prstGeom>
          <a:solidFill>
            <a:srgbClr val="C8102E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3483864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84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6007608"/>
            <a:ext cx="2450592" cy="18653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6281928"/>
            <a:ext cx="2231136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43" b="1" spc="-50">
                <a:solidFill>
                  <a:srgbClr val="0F2341"/>
                </a:solidFill>
                <a:latin typeface="Inter"/>
              </a:rPr>
              <a:t>Focus shifts away from arousal</a:t>
            </a:r>
          </a:p>
          <a:p>
            <a:pPr algn="ctr">
              <a:spcBef>
                <a:spcPts val="576"/>
              </a:spcBef>
            </a:pPr>
            <a:r>
              <a:rPr sz="1368" b="0">
                <a:solidFill>
                  <a:srgbClr val="4A5568"/>
                </a:solidFill>
                <a:latin typeface="Inter"/>
              </a:rPr>
              <a:t>You start monitoring instead of feeling</a:t>
            </a:r>
          </a:p>
        </p:txBody>
      </p:sp>
      <p:sp>
        <p:nvSpPr>
          <p:cNvPr id="14" name="Oval 13"/>
          <p:cNvSpPr/>
          <p:nvPr/>
        </p:nvSpPr>
        <p:spPr>
          <a:xfrm>
            <a:off x="7388352" y="5797296"/>
            <a:ext cx="402336" cy="402336"/>
          </a:xfrm>
          <a:prstGeom prst="ellipse">
            <a:avLst/>
          </a:prstGeom>
          <a:solidFill>
            <a:srgbClr val="C8102E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587959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84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8942832"/>
            <a:ext cx="2633472" cy="1307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9217152"/>
            <a:ext cx="241401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43" b="1" spc="-50">
                <a:solidFill>
                  <a:srgbClr val="0F2341"/>
                </a:solidFill>
                <a:latin typeface="Inter"/>
              </a:rPr>
              <a:t>Erection fades</a:t>
            </a:r>
          </a:p>
          <a:p>
            <a:pPr algn="ctr">
              <a:spcBef>
                <a:spcPts val="576"/>
              </a:spcBef>
            </a:pPr>
            <a:r>
              <a:rPr sz="1368" b="0">
                <a:solidFill>
                  <a:srgbClr val="4A5568"/>
                </a:solidFill>
                <a:latin typeface="Inter"/>
              </a:rPr>
              <a:t>Anxiety gets in the way of arousal</a:t>
            </a:r>
          </a:p>
        </p:txBody>
      </p:sp>
      <p:sp>
        <p:nvSpPr>
          <p:cNvPr id="18" name="Oval 17"/>
          <p:cNvSpPr/>
          <p:nvPr/>
        </p:nvSpPr>
        <p:spPr>
          <a:xfrm>
            <a:off x="4736592" y="8732520"/>
            <a:ext cx="402336" cy="402336"/>
          </a:xfrm>
          <a:prstGeom prst="ellipse">
            <a:avLst/>
          </a:prstGeom>
          <a:solidFill>
            <a:srgbClr val="C8102E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88148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84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" y="6153912"/>
            <a:ext cx="2450592" cy="1581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6428232"/>
            <a:ext cx="2231136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43" b="1" spc="-50">
                <a:solidFill>
                  <a:srgbClr val="0F2341"/>
                </a:solidFill>
                <a:latin typeface="Inter"/>
              </a:rPr>
              <a:t>More worry next time</a:t>
            </a:r>
          </a:p>
          <a:p>
            <a:pPr algn="ctr">
              <a:spcBef>
                <a:spcPts val="576"/>
              </a:spcBef>
            </a:pPr>
            <a:r>
              <a:rPr sz="1368" b="0">
                <a:solidFill>
                  <a:srgbClr val="4A5568"/>
                </a:solidFill>
                <a:latin typeface="Inter"/>
              </a:rPr>
              <a:t>The memory adds pressure</a:t>
            </a:r>
          </a:p>
        </p:txBody>
      </p:sp>
      <p:sp>
        <p:nvSpPr>
          <p:cNvPr id="22" name="Oval 21"/>
          <p:cNvSpPr/>
          <p:nvPr/>
        </p:nvSpPr>
        <p:spPr>
          <a:xfrm>
            <a:off x="2084832" y="5934456"/>
            <a:ext cx="402336" cy="402336"/>
          </a:xfrm>
          <a:prstGeom prst="ellipse">
            <a:avLst/>
          </a:prstGeom>
          <a:solidFill>
            <a:srgbClr val="C8102E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60167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84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456432" y="5468112"/>
            <a:ext cx="2962656" cy="2962656"/>
          </a:xfrm>
          <a:prstGeom prst="ellipse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66160" y="5577840"/>
            <a:ext cx="2743200" cy="2743200"/>
          </a:xfrm>
          <a:prstGeom prst="ellipse">
            <a:avLst/>
          </a:prstGeom>
          <a:solidFill>
            <a:srgbClr val="0F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6053328"/>
            <a:ext cx="2194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2" b="1" spc="250">
                <a:solidFill>
                  <a:srgbClr val="FF8A96"/>
                </a:solidFill>
                <a:latin typeface="Inter"/>
              </a:rPr>
              <a:t>BREAK THE CYCLE</a:t>
            </a:r>
          </a:p>
          <a:p>
            <a:pPr algn="ctr">
              <a:spcBef>
                <a:spcPts val="432"/>
              </a:spcBef>
            </a:pPr>
            <a:r>
              <a:rPr sz="2448" b="1" spc="-50">
                <a:solidFill>
                  <a:srgbClr val="FFFFFF"/>
                </a:solidFill>
                <a:latin typeface="Inter"/>
              </a:rPr>
              <a:t>Take the pressure off</a:t>
            </a:r>
          </a:p>
          <a:p>
            <a:pPr algn="ctr">
              <a:spcBef>
                <a:spcPts val="719"/>
              </a:spcBef>
            </a:pPr>
            <a:r>
              <a:rPr sz="1368" b="1">
                <a:solidFill>
                  <a:srgbClr val="FF8A96"/>
                </a:solidFill>
                <a:latin typeface="Inter"/>
              </a:rPr>
              <a:t>✓ </a:t>
            </a:r>
            <a:r>
              <a:rPr sz="1368" b="1">
                <a:solidFill>
                  <a:srgbClr val="DBE5F2"/>
                </a:solidFill>
                <a:latin typeface="Inter"/>
              </a:rPr>
              <a:t>Slow down</a:t>
            </a:r>
          </a:p>
          <a:p>
            <a:pPr algn="ctr">
              <a:spcBef>
                <a:spcPts val="144"/>
              </a:spcBef>
            </a:pPr>
            <a:r>
              <a:rPr sz="1368" b="1">
                <a:solidFill>
                  <a:srgbClr val="FF8A96"/>
                </a:solidFill>
                <a:latin typeface="Inter"/>
              </a:rPr>
              <a:t>✓ </a:t>
            </a:r>
            <a:r>
              <a:rPr sz="1368" b="1">
                <a:solidFill>
                  <a:srgbClr val="DBE5F2"/>
                </a:solidFill>
                <a:latin typeface="Inter"/>
              </a:rPr>
              <a:t>Talk to your partner</a:t>
            </a:r>
          </a:p>
          <a:p>
            <a:pPr algn="ctr">
              <a:spcBef>
                <a:spcPts val="144"/>
              </a:spcBef>
            </a:pPr>
            <a:r>
              <a:rPr sz="1368" b="1">
                <a:solidFill>
                  <a:srgbClr val="FF8A96"/>
                </a:solidFill>
                <a:latin typeface="Inter"/>
              </a:rPr>
              <a:t>✓ </a:t>
            </a:r>
            <a:r>
              <a:rPr sz="1368" b="1">
                <a:solidFill>
                  <a:srgbClr val="DBE5F2"/>
                </a:solidFill>
                <a:latin typeface="Inter"/>
              </a:rPr>
              <a:t>Focus on sensation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0789920"/>
            <a:ext cx="8595360" cy="640080"/>
          </a:xfrm>
          <a:prstGeom prst="roundRect">
            <a:avLst>
              <a:gd name="adj" fmla="val 25000"/>
            </a:avLst>
          </a:prstGeom>
          <a:solidFill>
            <a:srgbClr val="FDECEE"/>
          </a:solidFill>
          <a:ln w="13970">
            <a:solidFill>
              <a:srgbClr val="F3B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0981944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28" b="1">
                <a:solidFill>
                  <a:srgbClr val="8A0C20"/>
                </a:solidFill>
                <a:latin typeface="Inter"/>
              </a:rPr>
              <a:t>Keeps happening? </a:t>
            </a:r>
            <a:r>
              <a:rPr sz="1728" b="1">
                <a:solidFill>
                  <a:srgbClr val="C8102E"/>
                </a:solidFill>
                <a:latin typeface="Inter"/>
              </a:rPr>
              <a:t>Speak to a GP or sexual health clinic.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164031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96" b="0">
                <a:solidFill>
                  <a:srgbClr val="718096"/>
                </a:solidFill>
                <a:latin typeface="Inter"/>
              </a:rPr>
              <a:t>Sources: NHS · Journal of Andrology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1164031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96" b="1">
                <a:solidFill>
                  <a:srgbClr val="0F2341"/>
                </a:solidFill>
                <a:latin typeface="Inter"/>
              </a:rPr>
              <a:t>vigrxplus.uk.com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